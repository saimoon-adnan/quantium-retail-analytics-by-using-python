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2"/>
  </p:notesMasterIdLst>
  <p:sldIdLst>
    <p:sldId id="4778" r:id="rId2"/>
    <p:sldId id="1010" r:id="rId3"/>
    <p:sldId id="4780" r:id="rId4"/>
    <p:sldId id="4779" r:id="rId5"/>
    <p:sldId id="4781" r:id="rId6"/>
    <p:sldId id="4782" r:id="rId7"/>
    <p:sldId id="4784" r:id="rId8"/>
    <p:sldId id="4785" r:id="rId9"/>
    <p:sldId id="4786" r:id="rId10"/>
    <p:sldId id="275" r:id="rId11"/>
  </p:sldIdLst>
  <p:sldSz cx="12192000" cy="6858000"/>
  <p:notesSz cx="6858000" cy="9144000"/>
  <p:embeddedFontLst>
    <p:embeddedFont>
      <p:font typeface="Roboto" panose="02000000000000000000" pitchFamily="2" charset="0"/>
      <p:regular r:id="rId13"/>
      <p:bold r:id="rId14"/>
      <p:italic r:id="rId15"/>
      <p:boldItalic r:id="rId16"/>
    </p:embeddedFont>
    <p:embeddedFont>
      <p:font typeface="Roboto Light" panose="02000000000000000000" pitchFamily="2" charset="0"/>
      <p:regular r:id="rId17"/>
      <p:italic r:id="rId18"/>
    </p:embeddedFont>
    <p:embeddedFont>
      <p:font typeface="Roboto Medium" panose="02000000000000000000" pitchFamily="2" charset="0"/>
      <p:regular r:id="rId19"/>
      <p: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94" autoAdjust="0"/>
    <p:restoredTop sz="91283" autoAdjust="0"/>
  </p:normalViewPr>
  <p:slideViewPr>
    <p:cSldViewPr snapToGrid="0" showGuides="1">
      <p:cViewPr varScale="1">
        <p:scale>
          <a:sx n="60" d="100"/>
          <a:sy n="60" d="100"/>
        </p:scale>
        <p:origin x="1152" y="28"/>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3/06/2026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10</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b="1" dirty="0">
                <a:latin typeface="Roboto" panose="02000000000000000000" pitchFamily="2" charset="0"/>
                <a:ea typeface="Roboto" panose="02000000000000000000" pitchFamily="2" charset="0"/>
                <a:cs typeface="Roboto" panose="02000000000000000000" pitchFamily="2" charset="0"/>
              </a:rPr>
              <a:t>Retail Analytics</a:t>
            </a:r>
          </a:p>
          <a:p>
            <a:r>
              <a:rPr lang="en-AU" dirty="0"/>
              <a:t>Saimoon Adnan</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2026</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6966376" y="4138109"/>
            <a:ext cx="7580989" cy="1718742"/>
          </a:xfrm>
          <a:prstGeom prst="rect">
            <a:avLst/>
          </a:prstGeom>
          <a:noFill/>
        </p:spPr>
        <p:txBody>
          <a:bodyPr wrap="square" lIns="0" tIns="0" rIns="0" bIns="0" rtlCol="0" anchor="t">
            <a:noAutofit/>
          </a:bodyPr>
          <a:lstStyle/>
          <a:p>
            <a:pPr algn="l"/>
            <a:endParaRPr lang="en-AU" sz="1200" dirty="0">
              <a:latin typeface="Roboto Light" panose="02000000000000000000" pitchFamily="2" charset="0"/>
              <a:ea typeface="Roboto Light"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flipV="1">
            <a:off x="7235870" y="9663894"/>
            <a:ext cx="4766767" cy="53190"/>
          </a:xfrm>
          <a:prstGeom prst="rect">
            <a:avLst/>
          </a:prstGeom>
          <a:noFill/>
        </p:spPr>
        <p:txBody>
          <a:bodyPr wrap="square" lIns="0" tIns="0" rIns="0" bIns="0" rtlCol="0" anchor="t">
            <a:noAutofit/>
          </a:bodyPr>
          <a:lstStyle/>
          <a:p>
            <a:endParaRPr lang="en-AU" sz="1200" dirty="0">
              <a:latin typeface="Roboto Light" panose="02000000000000000000" pitchFamily="2" charset="0"/>
              <a:ea typeface="Roboto Light" panose="02000000000000000000" pitchFamily="2" charset="0"/>
            </a:endParaRPr>
          </a:p>
        </p:txBody>
      </p:sp>
      <p:sp>
        <p:nvSpPr>
          <p:cNvPr id="8" name="Rectangle 1">
            <a:extLst>
              <a:ext uri="{FF2B5EF4-FFF2-40B4-BE49-F238E27FC236}">
                <a16:creationId xmlns:a16="http://schemas.microsoft.com/office/drawing/2014/main" id="{8226358B-B8AA-1024-BCC3-39F27A4727B3}"/>
              </a:ext>
            </a:extLst>
          </p:cNvPr>
          <p:cNvSpPr>
            <a:spLocks noChangeArrowheads="1"/>
          </p:cNvSpPr>
          <p:nvPr/>
        </p:nvSpPr>
        <p:spPr bwMode="auto">
          <a:xfrm>
            <a:off x="3106962" y="1397675"/>
            <a:ext cx="811134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Budget Older Families generated the highest total sales </a:t>
            </a:r>
            <a:r>
              <a:rPr kumimoji="0" lang="en-US" altLang="en-US" sz="1800" b="0" i="0" u="none" strike="noStrike" cap="none" normalizeH="0" baseline="0" dirty="0">
                <a:ln>
                  <a:noFill/>
                </a:ln>
                <a:solidFill>
                  <a:srgbClr val="00B050"/>
                </a:solidFill>
                <a:effectLst/>
                <a:latin typeface="Arial" panose="020B0604020202020204" pitchFamily="34" charset="0"/>
              </a:rPr>
              <a:t>($156.9K)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Mainstream Young Singles/Couples represented the largest customer segment (7,917 customers)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Mainstream Young Singles/Couples paid the highest average unit price </a:t>
            </a:r>
            <a:r>
              <a:rPr kumimoji="0" lang="en-US" altLang="en-US" sz="1800" b="0" i="0" u="none" strike="noStrike" cap="none" normalizeH="0" baseline="0" dirty="0">
                <a:ln>
                  <a:noFill/>
                </a:ln>
                <a:solidFill>
                  <a:srgbClr val="00B050"/>
                </a:solidFill>
                <a:effectLst/>
                <a:latin typeface="Arial" panose="020B0604020202020204" pitchFamily="34" charset="0"/>
              </a:rPr>
              <a:t>($4.07 per pack)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Kettle, Pringles and Doritos were the most preferred brands </a:t>
            </a:r>
          </a:p>
        </p:txBody>
      </p:sp>
      <p:sp>
        <p:nvSpPr>
          <p:cNvPr id="10" name="Rectangle 2">
            <a:extLst>
              <a:ext uri="{FF2B5EF4-FFF2-40B4-BE49-F238E27FC236}">
                <a16:creationId xmlns:a16="http://schemas.microsoft.com/office/drawing/2014/main" id="{38C7DC9A-C322-6B6A-BD27-9024FB49D92A}"/>
              </a:ext>
            </a:extLst>
          </p:cNvPr>
          <p:cNvSpPr>
            <a:spLocks noChangeArrowheads="1"/>
          </p:cNvSpPr>
          <p:nvPr/>
        </p:nvSpPr>
        <p:spPr bwMode="auto">
          <a:xfrm>
            <a:off x="3019648" y="4118339"/>
            <a:ext cx="766607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Store 77 achieved a </a:t>
            </a:r>
            <a:r>
              <a:rPr kumimoji="0" lang="en-US" altLang="en-US" sz="1800" b="0" i="0" u="none" strike="noStrike" cap="none" normalizeH="0" baseline="0" dirty="0">
                <a:ln>
                  <a:noFill/>
                </a:ln>
                <a:solidFill>
                  <a:srgbClr val="EF6347"/>
                </a:solidFill>
                <a:effectLst/>
                <a:latin typeface="Arial" panose="020B0604020202020204" pitchFamily="34" charset="0"/>
              </a:rPr>
              <a:t>29.1% </a:t>
            </a:r>
            <a:r>
              <a:rPr kumimoji="0" lang="en-US" altLang="en-US" sz="1800" b="0" i="0" u="none" strike="noStrike" cap="none" normalizeH="0" baseline="0" dirty="0">
                <a:ln>
                  <a:noFill/>
                </a:ln>
                <a:solidFill>
                  <a:schemeClr val="tx1"/>
                </a:solidFill>
                <a:effectLst/>
                <a:latin typeface="Arial" panose="020B0604020202020204" pitchFamily="34" charset="0"/>
              </a:rPr>
              <a:t>sales uplift during the trial period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Store 86 achieved a </a:t>
            </a:r>
            <a:r>
              <a:rPr kumimoji="0" lang="en-US" altLang="en-US" sz="1800" b="0" i="0" u="none" strike="noStrike" cap="none" normalizeH="0" baseline="0" dirty="0">
                <a:ln>
                  <a:noFill/>
                </a:ln>
                <a:solidFill>
                  <a:srgbClr val="EF6347"/>
                </a:solidFill>
                <a:effectLst/>
                <a:latin typeface="Arial" panose="020B0604020202020204" pitchFamily="34" charset="0"/>
              </a:rPr>
              <a:t>9.8% </a:t>
            </a:r>
            <a:r>
              <a:rPr kumimoji="0" lang="en-US" altLang="en-US" sz="1800" b="0" i="0" u="none" strike="noStrike" cap="none" normalizeH="0" baseline="0" dirty="0">
                <a:ln>
                  <a:noFill/>
                </a:ln>
                <a:solidFill>
                  <a:schemeClr val="tx1"/>
                </a:solidFill>
                <a:effectLst/>
                <a:latin typeface="Arial" panose="020B0604020202020204" pitchFamily="34" charset="0"/>
              </a:rPr>
              <a:t>sales uplift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Customer counts increased in both trial stores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Store 88 requires further investigation due to control store matching issues </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a:xfrm>
            <a:off x="1289641" y="2846165"/>
            <a:ext cx="8481680" cy="2516187"/>
          </a:xfrm>
        </p:spPr>
        <p:txBody>
          <a:bodyPr/>
          <a:lstStyle/>
          <a:p>
            <a:r>
              <a:rPr lang="en-AU" dirty="0"/>
              <a:t>Category</a:t>
            </a:r>
          </a:p>
          <a:p>
            <a:r>
              <a:rPr lang="en-US" sz="1800" dirty="0">
                <a:latin typeface="Arial" panose="020B0604020202020204" pitchFamily="34" charset="0"/>
                <a:cs typeface="Arial" panose="020B0604020202020204" pitchFamily="34" charset="0"/>
              </a:rPr>
              <a:t>The chips category is primarily driven by Budget Older Families and Mainstream Young Singles/Couples. While Budget Older Families generate the highest overall sales, Mainstream Young Singles/Couples represent the largest customer base and pay the highest average price per packet, making them the most valuable target segment for future growth.</a:t>
            </a:r>
            <a:endParaRPr lang="en-AU" sz="1800" dirty="0">
              <a:latin typeface="Arial" panose="020B0604020202020204" pitchFamily="34" charset="0"/>
              <a:cs typeface="Arial" panose="020B0604020202020204" pitchFamily="34" charset="0"/>
            </a:endParaRPr>
          </a:p>
          <a:p>
            <a:endParaRPr lang="en-AU" dirty="0"/>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241797" y="726760"/>
            <a:ext cx="9007989" cy="824400"/>
          </a:xfrm>
        </p:spPr>
        <p:txBody>
          <a:bodyPr/>
          <a:lstStyle/>
          <a:p>
            <a:pPr algn="just"/>
            <a:r>
              <a:rPr lang="en-US" sz="1800" dirty="0">
                <a:latin typeface="Arial" panose="020B0604020202020204" pitchFamily="34" charset="0"/>
                <a:cs typeface="Arial" panose="020B0604020202020204" pitchFamily="34" charset="0"/>
              </a:rPr>
              <a:t>The chips category is primarily driven by Budget Older Families and Mainstream Young Singles/Couples. While Budget Older Families generate the highest sales revenue, Mainstream Young Singles/Couples represent the largest customer base and pay the highest average price per pack, making them a strategically valuable segment for future growth.</a:t>
            </a:r>
            <a:endParaRPr lang="en-AU" sz="18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pic>
        <p:nvPicPr>
          <p:cNvPr id="2" name="Picture 1">
            <a:extLst>
              <a:ext uri="{FF2B5EF4-FFF2-40B4-BE49-F238E27FC236}">
                <a16:creationId xmlns:a16="http://schemas.microsoft.com/office/drawing/2014/main" id="{D4D07CDB-1781-863A-FB02-C108EC8FCC75}"/>
              </a:ext>
            </a:extLst>
          </p:cNvPr>
          <p:cNvPicPr>
            <a:picLocks noChangeAspect="1"/>
          </p:cNvPicPr>
          <p:nvPr/>
        </p:nvPicPr>
        <p:blipFill>
          <a:blip r:embed="rId3"/>
          <a:stretch>
            <a:fillRect/>
          </a:stretch>
        </p:blipFill>
        <p:spPr>
          <a:xfrm>
            <a:off x="3591810" y="2388964"/>
            <a:ext cx="6000751" cy="3582538"/>
          </a:xfrm>
          <a:prstGeom prst="rect">
            <a:avLst/>
          </a:prstGeom>
        </p:spPr>
      </p:pic>
      <p:sp>
        <p:nvSpPr>
          <p:cNvPr id="3" name="TextBox 2">
            <a:extLst>
              <a:ext uri="{FF2B5EF4-FFF2-40B4-BE49-F238E27FC236}">
                <a16:creationId xmlns:a16="http://schemas.microsoft.com/office/drawing/2014/main" id="{16BE5683-1C6C-8337-89B7-B3F0BDC4B835}"/>
              </a:ext>
            </a:extLst>
          </p:cNvPr>
          <p:cNvSpPr txBox="1"/>
          <p:nvPr/>
        </p:nvSpPr>
        <p:spPr>
          <a:xfrm>
            <a:off x="5475767" y="2254103"/>
            <a:ext cx="914400" cy="914400"/>
          </a:xfrm>
          <a:prstGeom prst="rect">
            <a:avLst/>
          </a:prstGeom>
          <a:noFill/>
        </p:spPr>
        <p:txBody>
          <a:bodyPr wrap="none" lIns="0" tIns="0" rIns="0" bIns="0" rtlCol="0" anchor="t">
            <a:noAutofit/>
          </a:bodyPr>
          <a:lstStyle/>
          <a:p>
            <a:r>
              <a:rPr lang="en-US" sz="1200" dirty="0"/>
              <a:t>Total Sales by Segment chart</a:t>
            </a:r>
          </a:p>
          <a:p>
            <a:pPr algn="l"/>
            <a:endParaRPr lang="en-US" sz="1200" dirty="0" err="1">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1"/>
            <a:ext cx="5990634" cy="824400"/>
          </a:xfrm>
        </p:spPr>
        <p:txBody>
          <a:bodyPr/>
          <a:lstStyle/>
          <a:p>
            <a:r>
              <a:rPr lang="en-US" dirty="0"/>
              <a:t>Affluence &amp; Consumer Buying </a:t>
            </a:r>
            <a:r>
              <a:rPr lang="en-US" dirty="0" err="1"/>
              <a:t>Behaviour</a:t>
            </a:r>
            <a:endParaRPr lang="en-US" dirty="0"/>
          </a:p>
          <a:p>
            <a:pPr algn="just"/>
            <a:r>
              <a:rPr lang="en-US" sz="1800" dirty="0">
                <a:latin typeface="Arial" panose="020B0604020202020204" pitchFamily="34" charset="0"/>
                <a:cs typeface="Arial" panose="020B0604020202020204" pitchFamily="34" charset="0"/>
              </a:rPr>
              <a:t>Mainstream customers demonstrate a greater willingness to pay for premium chip products. Young Singles/Couples in the Mainstream segment paid the highest average unit price across all customer groups, indicating stronger engagement with premium brands and products.</a:t>
            </a:r>
          </a:p>
          <a:p>
            <a:pPr algn="just"/>
            <a:endParaRPr lang="en-US" sz="1800" dirty="0">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a:p>
            <a:pPr algn="just"/>
            <a:r>
              <a:rPr lang="en-US" sz="1800" dirty="0">
                <a:latin typeface="Arial" panose="020B0604020202020204" pitchFamily="34" charset="0"/>
                <a:cs typeface="Arial" panose="020B0604020202020204" pitchFamily="34" charset="0"/>
              </a:rPr>
              <a:t>Average Unit Price = $4.07</a:t>
            </a:r>
          </a:p>
          <a:p>
            <a:pPr algn="just"/>
            <a:r>
              <a:rPr lang="en-US" sz="1800" dirty="0">
                <a:latin typeface="Arial" panose="020B0604020202020204" pitchFamily="34" charset="0"/>
                <a:cs typeface="Arial" panose="020B0604020202020204" pitchFamily="34" charset="0"/>
              </a:rPr>
              <a:t>Value = 1.48 × 10^-260</a:t>
            </a:r>
          </a:p>
          <a:p>
            <a:pPr algn="just"/>
            <a:r>
              <a:rPr lang="en-US" sz="1800" dirty="0">
                <a:latin typeface="Arial" panose="020B0604020202020204" pitchFamily="34" charset="0"/>
                <a:cs typeface="Arial" panose="020B0604020202020204" pitchFamily="34" charset="0"/>
              </a:rPr>
              <a:t>Statistically Significant Difference</a:t>
            </a:r>
            <a:endParaRPr lang="en-AU" sz="1800"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5" name="Picture 4">
            <a:extLst>
              <a:ext uri="{FF2B5EF4-FFF2-40B4-BE49-F238E27FC236}">
                <a16:creationId xmlns:a16="http://schemas.microsoft.com/office/drawing/2014/main" id="{00AEFF32-FBF9-9A68-3F31-5B5831656A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4689" y="2136793"/>
            <a:ext cx="4146406" cy="2930932"/>
          </a:xfrm>
          <a:prstGeom prst="rect">
            <a:avLst/>
          </a:prstGeom>
        </p:spPr>
      </p:pic>
      <p:sp>
        <p:nvSpPr>
          <p:cNvPr id="6" name="TextBox 5">
            <a:extLst>
              <a:ext uri="{FF2B5EF4-FFF2-40B4-BE49-F238E27FC236}">
                <a16:creationId xmlns:a16="http://schemas.microsoft.com/office/drawing/2014/main" id="{74C391F4-F964-0032-E3C7-DA95F5265CF5}"/>
              </a:ext>
            </a:extLst>
          </p:cNvPr>
          <p:cNvSpPr txBox="1"/>
          <p:nvPr/>
        </p:nvSpPr>
        <p:spPr>
          <a:xfrm>
            <a:off x="8771715" y="1765005"/>
            <a:ext cx="914400" cy="914400"/>
          </a:xfrm>
          <a:prstGeom prst="rect">
            <a:avLst/>
          </a:prstGeom>
          <a:noFill/>
        </p:spPr>
        <p:txBody>
          <a:bodyPr wrap="none" lIns="0" tIns="0" rIns="0" bIns="0" rtlCol="0" anchor="t">
            <a:noAutofit/>
          </a:bodyPr>
          <a:lstStyle/>
          <a:p>
            <a:r>
              <a:rPr lang="en-US" sz="1200" b="1" dirty="0">
                <a:latin typeface="Aptos" panose="020B0004020202020204" pitchFamily="34" charset="0"/>
                <a:ea typeface="Roboto Light" panose="02000000000000000000" pitchFamily="2" charset="0"/>
              </a:rPr>
              <a:t>Average Unit Price Table</a:t>
            </a:r>
          </a:p>
        </p:txBody>
      </p:sp>
      <p:sp>
        <p:nvSpPr>
          <p:cNvPr id="7" name="TextBox 6">
            <a:extLst>
              <a:ext uri="{FF2B5EF4-FFF2-40B4-BE49-F238E27FC236}">
                <a16:creationId xmlns:a16="http://schemas.microsoft.com/office/drawing/2014/main" id="{A8E6EAA5-3999-54DD-34EE-E7CBC4DD84DD}"/>
              </a:ext>
            </a:extLst>
          </p:cNvPr>
          <p:cNvSpPr txBox="1"/>
          <p:nvPr/>
        </p:nvSpPr>
        <p:spPr>
          <a:xfrm>
            <a:off x="5486400" y="4890977"/>
            <a:ext cx="914400" cy="914400"/>
          </a:xfrm>
          <a:prstGeom prst="rect">
            <a:avLst/>
          </a:prstGeom>
          <a:noFill/>
        </p:spPr>
        <p:txBody>
          <a:bodyPr wrap="none" lIns="0" tIns="0" rIns="0" bIns="0" rtlCol="0" anchor="t">
            <a:noAutofit/>
          </a:bodyPr>
          <a:lstStyle/>
          <a:p>
            <a:pPr algn="l"/>
            <a:endParaRPr lang="en-US" sz="1200" dirty="0" err="1">
              <a:latin typeface="Roboto Light" panose="02000000000000000000" pitchFamily="2" charset="0"/>
              <a:ea typeface="Roboto Light" panose="02000000000000000000" pitchFamily="2" charset="0"/>
            </a:endParaRPr>
          </a:p>
        </p:txBody>
      </p:sp>
      <p:sp>
        <p:nvSpPr>
          <p:cNvPr id="8" name="Text Placeholder 3">
            <a:extLst>
              <a:ext uri="{FF2B5EF4-FFF2-40B4-BE49-F238E27FC236}">
                <a16:creationId xmlns:a16="http://schemas.microsoft.com/office/drawing/2014/main" id="{24565DFD-461D-6ACC-7B68-6140AC57CED0}"/>
              </a:ext>
            </a:extLst>
          </p:cNvPr>
          <p:cNvSpPr txBox="1">
            <a:spLocks/>
          </p:cNvSpPr>
          <p:nvPr/>
        </p:nvSpPr>
        <p:spPr>
          <a:xfrm>
            <a:off x="1196974" y="4890977"/>
            <a:ext cx="6075695" cy="824400"/>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Arial" panose="020B0604020202020204" pitchFamily="34" charset="0"/>
                <a:cs typeface="Arial" panose="020B0604020202020204" pitchFamily="34" charset="0"/>
              </a:rPr>
              <a:t>Mainstream Young Singles/Couples paid the highest average unit price per pack </a:t>
            </a:r>
            <a:r>
              <a:rPr lang="en-US" sz="1800" dirty="0">
                <a:solidFill>
                  <a:srgbClr val="EF6347"/>
                </a:solidFill>
                <a:latin typeface="Arial" panose="020B0604020202020204" pitchFamily="34" charset="0"/>
                <a:cs typeface="Arial" panose="020B0604020202020204" pitchFamily="34" charset="0"/>
              </a:rPr>
              <a:t>($4.07), </a:t>
            </a:r>
            <a:r>
              <a:rPr lang="en-US" sz="1800" dirty="0">
                <a:latin typeface="Arial" panose="020B0604020202020204" pitchFamily="34" charset="0"/>
                <a:cs typeface="Arial" panose="020B0604020202020204" pitchFamily="34" charset="0"/>
              </a:rPr>
              <a:t>indicating stronger engagement with premium products.</a:t>
            </a:r>
            <a:endParaRPr lang="en-AU"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a:p>
            <a:r>
              <a:rPr lang="en-US" sz="2000" dirty="0">
                <a:latin typeface="Arial" panose="020B0604020202020204" pitchFamily="34" charset="0"/>
                <a:cs typeface="Arial" panose="020B0604020202020204" pitchFamily="34" charset="0"/>
              </a:rPr>
              <a:t>Control stores were selected based on similarity in historical sales performance during the pre-trial period</a:t>
            </a:r>
            <a:r>
              <a:rPr lang="en-US" sz="2000" dirty="0"/>
              <a:t>.</a:t>
            </a:r>
          </a:p>
          <a:p>
            <a:endParaRPr lang="en-AU" dirty="0"/>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dirty="0"/>
              <a:t>Control stores were selected based on similarity in historical sales performance during the pre-trial period.</a:t>
            </a:r>
          </a:p>
          <a:p>
            <a:endParaRPr lang="en-AU" dirty="0"/>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pic>
        <p:nvPicPr>
          <p:cNvPr id="5" name="Picture 4">
            <a:extLst>
              <a:ext uri="{FF2B5EF4-FFF2-40B4-BE49-F238E27FC236}">
                <a16:creationId xmlns:a16="http://schemas.microsoft.com/office/drawing/2014/main" id="{56A4975A-781F-C1B5-043E-407F43ADB449}"/>
              </a:ext>
            </a:extLst>
          </p:cNvPr>
          <p:cNvPicPr>
            <a:picLocks noChangeAspect="1"/>
          </p:cNvPicPr>
          <p:nvPr/>
        </p:nvPicPr>
        <p:blipFill>
          <a:blip r:embed="rId3"/>
          <a:stretch>
            <a:fillRect/>
          </a:stretch>
        </p:blipFill>
        <p:spPr>
          <a:xfrm>
            <a:off x="1196975" y="2083980"/>
            <a:ext cx="5578856" cy="2806883"/>
          </a:xfrm>
          <a:prstGeom prst="rect">
            <a:avLst/>
          </a:prstGeom>
        </p:spPr>
      </p:pic>
      <p:pic>
        <p:nvPicPr>
          <p:cNvPr id="7" name="Picture 6">
            <a:extLst>
              <a:ext uri="{FF2B5EF4-FFF2-40B4-BE49-F238E27FC236}">
                <a16:creationId xmlns:a16="http://schemas.microsoft.com/office/drawing/2014/main" id="{78D42DF5-11DA-500E-B8C6-41D12948BD2D}"/>
              </a:ext>
            </a:extLst>
          </p:cNvPr>
          <p:cNvPicPr>
            <a:picLocks noChangeAspect="1"/>
          </p:cNvPicPr>
          <p:nvPr/>
        </p:nvPicPr>
        <p:blipFill>
          <a:blip r:embed="rId4"/>
          <a:stretch>
            <a:fillRect/>
          </a:stretch>
        </p:blipFill>
        <p:spPr>
          <a:xfrm>
            <a:off x="6581553" y="2190304"/>
            <a:ext cx="5435241" cy="2806665"/>
          </a:xfrm>
          <a:prstGeom prst="rect">
            <a:avLst/>
          </a:prstGeom>
        </p:spPr>
      </p:pic>
      <p:sp>
        <p:nvSpPr>
          <p:cNvPr id="8" name="TextBox 7">
            <a:extLst>
              <a:ext uri="{FF2B5EF4-FFF2-40B4-BE49-F238E27FC236}">
                <a16:creationId xmlns:a16="http://schemas.microsoft.com/office/drawing/2014/main" id="{6ACE791F-8F67-D07C-A232-639100640D08}"/>
              </a:ext>
            </a:extLst>
          </p:cNvPr>
          <p:cNvSpPr txBox="1"/>
          <p:nvPr/>
        </p:nvSpPr>
        <p:spPr>
          <a:xfrm>
            <a:off x="1945758" y="4932840"/>
            <a:ext cx="914400" cy="829006"/>
          </a:xfrm>
          <a:prstGeom prst="rect">
            <a:avLst/>
          </a:prstGeom>
          <a:noFill/>
        </p:spPr>
        <p:txBody>
          <a:bodyPr wrap="none" lIns="0" tIns="0" rIns="0" bIns="0" rtlCol="0" anchor="t">
            <a:noAutofit/>
          </a:bodyPr>
          <a:lstStyle/>
          <a:p>
            <a:r>
              <a:rPr lang="en-US" sz="1600" b="1" dirty="0">
                <a:solidFill>
                  <a:srgbClr val="EF6347"/>
                </a:solidFill>
                <a:latin typeface="Arial" panose="020B0604020202020204" pitchFamily="34" charset="0"/>
                <a:cs typeface="Arial" panose="020B0604020202020204" pitchFamily="34" charset="0"/>
              </a:rPr>
              <a:t>Store 77</a:t>
            </a:r>
          </a:p>
          <a:p>
            <a:endParaRPr lang="en-US" sz="1200" b="1" dirty="0"/>
          </a:p>
          <a:p>
            <a:r>
              <a:rPr lang="en-US" sz="1400" b="1" dirty="0">
                <a:latin typeface="Arial" panose="020B0604020202020204" pitchFamily="34" charset="0"/>
                <a:cs typeface="Arial" panose="020B0604020202020204" pitchFamily="34" charset="0"/>
              </a:rPr>
              <a:t>Sales Uplift: +29.1% </a:t>
            </a:r>
          </a:p>
          <a:p>
            <a:r>
              <a:rPr lang="en-US" sz="1400" b="1" dirty="0">
                <a:latin typeface="Arial" panose="020B0604020202020204" pitchFamily="34" charset="0"/>
                <a:cs typeface="Arial" panose="020B0604020202020204" pitchFamily="34" charset="0"/>
              </a:rPr>
              <a:t>Customers: 142 vs 115 </a:t>
            </a:r>
          </a:p>
          <a:p>
            <a:r>
              <a:rPr lang="en-US" sz="1400" b="1" dirty="0">
                <a:latin typeface="Arial" panose="020B0604020202020204" pitchFamily="34" charset="0"/>
                <a:cs typeface="Arial" panose="020B0604020202020204" pitchFamily="34" charset="0"/>
              </a:rPr>
              <a:t>Strong positive trial performance</a:t>
            </a:r>
          </a:p>
        </p:txBody>
      </p:sp>
      <p:sp>
        <p:nvSpPr>
          <p:cNvPr id="14" name="Rectangle 4">
            <a:extLst>
              <a:ext uri="{FF2B5EF4-FFF2-40B4-BE49-F238E27FC236}">
                <a16:creationId xmlns:a16="http://schemas.microsoft.com/office/drawing/2014/main" id="{6C45CFA3-2527-EF04-BFE0-88B0F7DFA070}"/>
              </a:ext>
            </a:extLst>
          </p:cNvPr>
          <p:cNvSpPr>
            <a:spLocks noChangeArrowheads="1"/>
          </p:cNvSpPr>
          <p:nvPr/>
        </p:nvSpPr>
        <p:spPr bwMode="auto">
          <a:xfrm rot="10800000" flipV="1">
            <a:off x="7430855" y="4922427"/>
            <a:ext cx="3218119"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1600" b="1" dirty="0">
                <a:solidFill>
                  <a:srgbClr val="EF6347"/>
                </a:solidFill>
                <a:latin typeface="Arial" panose="020B0604020202020204" pitchFamily="34" charset="0"/>
                <a:ea typeface="Roboto Light" panose="02000000000000000000" pitchFamily="2" charset="0"/>
                <a:cs typeface="Arial" panose="020B0604020202020204" pitchFamily="34" charset="0"/>
              </a:rPr>
              <a:t>Store 86</a:t>
            </a:r>
          </a:p>
          <a:p>
            <a:pPr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Sales Uplift: +9.8%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Customers: 327 vs 288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Moderate positive impact </a:t>
            </a:r>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sz="2800" b="1" dirty="0"/>
              <a:t>Recommendation</a:t>
            </a:r>
          </a:p>
          <a:p>
            <a:r>
              <a:rPr lang="en-US" sz="2000" b="1" dirty="0">
                <a:solidFill>
                  <a:srgbClr val="EF6347"/>
                </a:solidFill>
              </a:rPr>
              <a:t>Recommendation 1</a:t>
            </a:r>
          </a:p>
          <a:p>
            <a:r>
              <a:rPr lang="en-US" sz="1800" dirty="0"/>
              <a:t>Focus future marketing activity on:</a:t>
            </a:r>
          </a:p>
          <a:p>
            <a:r>
              <a:rPr lang="en-US" sz="1800" dirty="0"/>
              <a:t>Mainstream Young Singles/Couples</a:t>
            </a:r>
          </a:p>
          <a:p>
            <a:r>
              <a:rPr lang="en-US" sz="2000" b="1" dirty="0">
                <a:solidFill>
                  <a:srgbClr val="EF6347"/>
                </a:solidFill>
              </a:rPr>
              <a:t>Recommendation 1</a:t>
            </a:r>
          </a:p>
          <a:p>
            <a:r>
              <a:rPr lang="en-US" sz="2000" dirty="0"/>
              <a:t>Focus future marketing activity on:</a:t>
            </a:r>
          </a:p>
          <a:p>
            <a:r>
              <a:rPr lang="en-US" sz="2000" dirty="0"/>
              <a:t>Mainstream Young Singles/Couples</a:t>
            </a:r>
          </a:p>
          <a:p>
            <a:r>
              <a:rPr lang="en-US" sz="2000" b="1" dirty="0">
                <a:solidFill>
                  <a:srgbClr val="EF6347"/>
                </a:solidFill>
              </a:rPr>
              <a:t>Recommendation 3</a:t>
            </a:r>
          </a:p>
          <a:p>
            <a:r>
              <a:rPr lang="en-US" sz="2000" dirty="0"/>
              <a:t>Expand successful Store 77 trial learnings to similar stores.</a:t>
            </a:r>
          </a:p>
          <a:p>
            <a:r>
              <a:rPr lang="en-US" sz="2000" b="1" dirty="0">
                <a:solidFill>
                  <a:srgbClr val="EF6347"/>
                </a:solidFill>
              </a:rPr>
              <a:t>Recommendation 4</a:t>
            </a:r>
          </a:p>
          <a:p>
            <a:r>
              <a:rPr lang="en-US" sz="2000" dirty="0"/>
              <a:t>Conduct further analysis for Store 88 using a better matched control store.</a:t>
            </a:r>
          </a:p>
          <a:p>
            <a:endParaRPr lang="en-AU" dirty="0"/>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268DCE-107A-52E1-4788-EA0BC6CF1814}"/>
              </a:ext>
            </a:extLst>
          </p:cNvPr>
          <p:cNvSpPr txBox="1"/>
          <p:nvPr/>
        </p:nvSpPr>
        <p:spPr>
          <a:xfrm>
            <a:off x="6220047" y="914400"/>
            <a:ext cx="914400" cy="914400"/>
          </a:xfrm>
          <a:prstGeom prst="rect">
            <a:avLst/>
          </a:prstGeom>
          <a:noFill/>
        </p:spPr>
        <p:txBody>
          <a:bodyPr wrap="none" lIns="0" tIns="0" rIns="0" bIns="0" rtlCol="0" anchor="t">
            <a:noAutofit/>
          </a:bodyPr>
          <a:lstStyle/>
          <a:p>
            <a:pPr algn="l"/>
            <a:endParaRPr lang="en-US" sz="1200" dirty="0" err="1">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6403</TotalTime>
  <Words>687</Words>
  <Application>Microsoft Office PowerPoint</Application>
  <PresentationFormat>Widescreen</PresentationFormat>
  <Paragraphs>74</Paragraphs>
  <Slides>10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Roboto Light</vt:lpstr>
      <vt:lpstr>Roboto</vt:lpstr>
      <vt:lpstr>Courier New</vt:lpstr>
      <vt:lpstr>Aptos</vt:lpstr>
      <vt:lpstr>Roboto Medium</vt:lpstr>
      <vt:lpstr>Arial</vt:lpstr>
      <vt:lpstr>Calibri</vt:lpstr>
      <vt:lpstr>Office Theme</vt:lpstr>
      <vt:lpstr>Category review: Chips</vt:lpstr>
      <vt:lpstr>PowerPoint Presentation</vt:lpstr>
      <vt:lpstr>PowerPoint Presentation</vt:lpstr>
      <vt:lpstr>01</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saimoon adnan</cp:lastModifiedBy>
  <cp:revision>465</cp:revision>
  <dcterms:created xsi:type="dcterms:W3CDTF">2018-02-07T23:23:24Z</dcterms:created>
  <dcterms:modified xsi:type="dcterms:W3CDTF">2026-06-03T08:23:37Z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